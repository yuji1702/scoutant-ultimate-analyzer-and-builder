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3" r:id="rId16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6" Type="http://schemas.openxmlformats.org/officeDocument/2006/relationships/slide" Target="slides/slide15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628" y="1675919"/>
            <a:ext cx="1167050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MY" altLang="en-US" sz="6000" b="1" dirty="0" err="1">
                <a:latin typeface="Arial" panose="020B0604020202020204" pitchFamily="34" charset="0"/>
              </a:rPr>
              <a:t>Scoutant</a:t>
            </a:r>
            <a:r>
              <a:rPr lang="en-MY" altLang="en-US" sz="6000" b="1" dirty="0">
                <a:latin typeface="Arial" panose="020B0604020202020204" pitchFamily="34" charset="0"/>
              </a:rPr>
              <a:t> – Ultimate Analysis and Team builder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0639" y="3644300"/>
            <a:ext cx="12416918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Student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 Asad Abdur </a:t>
            </a:r>
            <a:r>
              <a:rPr lang="en-US" sz="3200" b="1" dirty="0">
                <a:cs typeface="Aharoni" pitchFamily="2" charset="-79"/>
              </a:rPr>
              <a:t>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ahman, Dhruv, Siddharth Pandey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Project Group: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G18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Roll Number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2201331720021, 2201331720028, 2201331720061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B.tech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CSE Cybersecurity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School of Computer Science and </a:t>
            </a:r>
            <a:r>
              <a:rPr lang="en-US" sz="3200" b="1" dirty="0">
                <a:cs typeface="Aharoni" pitchFamily="2" charset="-79"/>
              </a:rPr>
              <a:t>E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merging Technology.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Full-time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Dr. Ahmad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Neyaz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1. Introduction</a:t>
            </a:r>
            <a:endParaRPr/>
          </a:p>
          <a:p>
            <a:pPr/>
            <a:r>
              <a:rPr sz="2000">
                <a:latin typeface="Calibri"/>
              </a:rPr>
              <a:t>2. Literature Survey / Existing System</a:t>
            </a:r>
          </a:p>
          <a:p>
            <a:pPr/>
            <a:r>
              <a:rPr sz="2000">
                <a:latin typeface="Calibri"/>
              </a:rPr>
              <a:t>3. Requirements and Analysis</a:t>
            </a:r>
          </a:p>
          <a:p>
            <a:pPr/>
            <a:r>
              <a:rPr sz="2000">
                <a:latin typeface="Calibri"/>
              </a:rPr>
              <a:t>4. Proposed Methodology</a:t>
            </a:r>
          </a:p>
          <a:p>
            <a:pPr/>
            <a:r>
              <a:rPr sz="2000">
                <a:latin typeface="Calibri"/>
              </a:rPr>
              <a:t>5. Hardware / Software Requirements</a:t>
            </a:r>
          </a:p>
          <a:p>
            <a:pPr/>
            <a:r>
              <a:rPr sz="2000">
                <a:latin typeface="Calibri"/>
              </a:rPr>
              <a:t>6. Results</a:t>
            </a:r>
          </a:p>
          <a:p>
            <a:pPr/>
            <a:r>
              <a:rPr sz="2000">
                <a:latin typeface="Calibri"/>
              </a:rPr>
              <a:t>7. Conclusion and Future Work</a:t>
            </a:r>
          </a:p>
          <a:p>
            <a:pPr/>
            <a:r>
              <a:rPr sz="2000">
                <a:latin typeface="Calibri"/>
              </a:rPr>
              <a:t>8. References</a:t>
            </a:r>
          </a:p>
          <a:p>
            <a:pPr/>
            <a:r>
              <a:rPr sz="2000">
                <a:latin typeface="Calibri"/>
              </a:rPr>
              <a:t>9. Live Demonstration &amp; 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Index</a:t>
            </a:r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63027" y="1679302"/>
            <a:ext cx="9601200" cy="58877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pPr>
              <a:spcAft>
                <a:spcPts val="1200"/>
              </a:spcAft>
            </a:pPr>
            <a:r>
              <a:rPr sz="2400" dirty="0"/>
              <a:t>1. Objective of the Project</a:t>
            </a:r>
          </a:p>
          <a:p>
            <a:pPr>
              <a:spcAft>
                <a:spcPts val="1200"/>
              </a:spcAft>
            </a:pPr>
            <a:r>
              <a:rPr sz="2400" dirty="0"/>
              <a:t>2. Problem Statement</a:t>
            </a:r>
          </a:p>
          <a:p>
            <a:pPr>
              <a:spcAft>
                <a:spcPts val="1200"/>
              </a:spcAft>
            </a:pPr>
            <a:r>
              <a:rPr sz="2400" dirty="0"/>
              <a:t>3. Abstract</a:t>
            </a:r>
          </a:p>
          <a:p>
            <a:pPr>
              <a:spcAft>
                <a:spcPts val="1200"/>
              </a:spcAft>
            </a:pPr>
            <a:r>
              <a:rPr sz="2400" dirty="0"/>
              <a:t>4. Literature Survey / Existing Systems</a:t>
            </a:r>
          </a:p>
          <a:p>
            <a:pPr>
              <a:spcAft>
                <a:spcPts val="1200"/>
              </a:spcAft>
            </a:pPr>
            <a:r>
              <a:rPr sz="2400" dirty="0"/>
              <a:t>5. Proposed Methodology</a:t>
            </a:r>
          </a:p>
          <a:p>
            <a:pPr>
              <a:spcAft>
                <a:spcPts val="1200"/>
              </a:spcAft>
            </a:pPr>
            <a:r>
              <a:rPr sz="2400" dirty="0"/>
              <a:t>6. Requirements and Analysis</a:t>
            </a:r>
          </a:p>
          <a:p>
            <a:pPr>
              <a:spcAft>
                <a:spcPts val="1200"/>
              </a:spcAft>
            </a:pPr>
            <a:r>
              <a:rPr sz="2400" dirty="0"/>
              <a:t>7. Description of Modules</a:t>
            </a:r>
          </a:p>
          <a:p>
            <a:pPr>
              <a:spcAft>
                <a:spcPts val="1200"/>
              </a:spcAft>
            </a:pPr>
            <a:r>
              <a:rPr sz="2400" dirty="0"/>
              <a:t>8. Result</a:t>
            </a:r>
          </a:p>
          <a:p>
            <a:pPr>
              <a:spcAft>
                <a:spcPts val="1200"/>
              </a:spcAft>
            </a:pPr>
            <a:r>
              <a:rPr sz="2400" dirty="0"/>
              <a:t>9. Conclusion</a:t>
            </a:r>
          </a:p>
          <a:p>
            <a:pPr>
              <a:spcAft>
                <a:spcPts val="1200"/>
              </a:spcAft>
            </a:pPr>
            <a:r>
              <a:rPr sz="2400" dirty="0"/>
              <a:t>10. Future Work</a:t>
            </a:r>
          </a:p>
          <a:p>
            <a:pPr>
              <a:spcAft>
                <a:spcPts val="1200"/>
              </a:spcAft>
            </a:pPr>
            <a:r>
              <a:rPr sz="2400" dirty="0"/>
              <a:t>11.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• ScoutAnt is an advanced data-driven system for competitive Valorant analysis.</a:t>
            </a:r>
            <a:endParaRPr/>
          </a:p>
          <a:p>
            <a:pPr/>
            <a:r>
              <a:rPr sz="2000">
                <a:latin typeface="Calibri"/>
              </a:rPr>
              <a:t>• Automates the collection of comprehensive match data from publicly available sources (VLR.gg).</a:t>
            </a:r>
          </a:p>
          <a:p>
            <a:pPr/>
            <a:r>
              <a:rPr sz="2000">
                <a:latin typeface="Calibri"/>
              </a:rPr>
              <a:t>• Aimed at providing insights into meta team compositions, player performance, and match strategy.</a:t>
            </a:r>
          </a:p>
          <a:p>
            <a:pPr/>
            <a:r>
              <a:rPr sz="2000">
                <a:latin typeface="Calibri"/>
              </a:rPr>
              <a:t>• Revolutionizes match preparation by removing the need for time-intensive manual analysis.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1. Objective of the Project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Primary: Develop an intelligent, automated system for competitive Valorant match data.</a:t>
            </a:r>
          </a:p>
          <a:p>
            <a:pPr>
              <a:spcAft>
                <a:spcPts val="1200"/>
              </a:spcAft>
            </a:pPr>
            <a:r>
              <a:t>Automated Data Collection: Web crawler for VLR.gg.</a:t>
            </a:r>
          </a:p>
          <a:p>
            <a:pPr>
              <a:spcAft>
                <a:spcPts val="1200"/>
              </a:spcAft>
            </a:pPr>
            <a:r>
              <a:t>Performance Analysis: Compute ACS, K/D, Win Rates.</a:t>
            </a:r>
          </a:p>
          <a:p>
            <a:pPr>
              <a:spcAft>
                <a:spcPts val="1200"/>
              </a:spcAft>
            </a:pPr>
            <a:r>
              <a:t>Team Comp Optimization: Identify synergy patterns.</a:t>
            </a:r>
          </a:p>
          <a:p>
            <a:pPr>
              <a:spcAft>
                <a:spcPts val="1200"/>
              </a:spcAft>
            </a:pPr>
            <a:r>
              <a:t>Strategic Insight: Data-driven comparison for coaches and players.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• VLR.gg: Primary source of statistics, but no public API and consumption-only.</a:t>
            </a:r>
            <a:endParaRPr/>
          </a:p>
          <a:p>
            <a:pPr/>
            <a:r>
              <a:rPr sz="2000">
                <a:latin typeface="Calibri"/>
              </a:rPr>
              <a:t>• Tracker.gg: Focuses heavily on ranked matchmaking, not professional esports.</a:t>
            </a:r>
          </a:p>
          <a:p>
            <a:pPr/>
            <a:r>
              <a:rPr sz="2000">
                <a:latin typeface="Calibri"/>
              </a:rPr>
              <a:t>• Rib.gg: Paid service with pre-defined analytical dashboards.</a:t>
            </a:r>
          </a:p>
          <a:p>
            <a:pPr/>
            <a:r>
              <a:rPr sz="2000">
                <a:latin typeface="Calibri"/>
              </a:rPr>
              <a:t>• Manual Spreadsheets: Traditional method requiring high effort and time.</a:t>
            </a:r>
          </a:p>
          <a:p>
            <a:pPr/>
            <a:r>
              <a:rPr sz="2000">
                <a:latin typeface="Calibri"/>
              </a:rPr>
              <a:t>• ScoutAnt aims to bridge these gaps by offering customizable, automated high-level data pipelines.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2. Problem Statement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Manual Data Entry: Time-consuming and error-prone.</a:t>
            </a:r>
          </a:p>
          <a:p>
            <a:pPr>
              <a:spcAft>
                <a:spcPts val="1200"/>
              </a:spcAft>
            </a:pPr>
            <a:r>
              <a:t>Lack of Centralized Analytics: VLR.gg is raw data only.</a:t>
            </a:r>
          </a:p>
          <a:p>
            <a:pPr>
              <a:spcAft>
                <a:spcPts val="1200"/>
              </a:spcAft>
            </a:pPr>
            <a:r>
              <a:t>Siloed Information: Hard to query complex scenarios.</a:t>
            </a:r>
          </a:p>
          <a:p>
            <a:pPr>
              <a:spcAft>
                <a:spcPts val="1200"/>
              </a:spcAft>
            </a:pPr>
            <a:r>
              <a:t>Inefficient Scouting: Requires hours of video review.</a:t>
            </a:r>
          </a:p>
          <a:p>
            <a:pPr>
              <a:spcAft>
                <a:spcPts val="1200"/>
              </a:spcAft>
            </a:pPr>
            <a:r>
              <a:t>ScoutAnt Solution: Automates extraction and aggregation.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Functional Requirements:</a:t>
            </a:r>
            <a:endParaRPr/>
          </a:p>
          <a:p>
            <a:pPr/>
            <a:r>
              <a:rPr sz="2000">
                <a:latin typeface="Calibri"/>
              </a:rPr>
              <a:t>  • Event Discovery &amp; Match Extraction (VLR.gg integration)</a:t>
            </a:r>
          </a:p>
          <a:p>
            <a:pPr/>
            <a:r>
              <a:rPr sz="2000">
                <a:latin typeface="Calibri"/>
              </a:rPr>
              <a:t>  • Data Persistence (JSON storage system)</a:t>
            </a:r>
          </a:p>
          <a:p>
            <a:pPr/>
            <a:r>
              <a:rPr sz="2000">
                <a:latin typeface="Calibri"/>
              </a:rPr>
              <a:t>  • Meta Composition Analysis &amp; Player Prediction</a:t>
            </a:r>
          </a:p>
          <a:p>
            <a:pPr/>
            <a:r>
              <a:rPr sz="2000">
                <a:latin typeface="Calibri"/>
              </a:rPr>
              <a:t>Non-Functional Requirements:</a:t>
            </a:r>
          </a:p>
          <a:p>
            <a:pPr/>
            <a:r>
              <a:rPr sz="2000">
                <a:latin typeface="Calibri"/>
              </a:rPr>
              <a:t>  • Performance: Rate-limiting to ensure respectful web scraping</a:t>
            </a:r>
          </a:p>
          <a:p>
            <a:pPr/>
            <a:r>
              <a:rPr sz="2000">
                <a:latin typeface="Calibri"/>
              </a:rPr>
              <a:t>  • Scalability: Handle thousands of matches efficiently</a:t>
            </a:r>
          </a:p>
          <a:p>
            <a:pPr/>
            <a:r>
              <a:rPr sz="2000">
                <a:latin typeface="Calibri"/>
              </a:rPr>
              <a:t>  • Reliability: Graceful exception handling for incomplete data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3. Abstract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ScoutAnt is a Python-based analytical tool for Valorant esports.</a:t>
            </a:r>
          </a:p>
          <a:p>
            <a:pPr>
              <a:spcAft>
                <a:spcPts val="1200"/>
              </a:spcAft>
            </a:pPr>
            <a:r>
              <a:t>Mines data from VLR.gg (maps, scores, players, agents).</a:t>
            </a:r>
          </a:p>
          <a:p>
            <a:pPr>
              <a:spcAft>
                <a:spcPts val="1200"/>
              </a:spcAft>
            </a:pPr>
            <a:r>
              <a:t>Stores data in structured JSON for longitudinal analysis.</a:t>
            </a:r>
          </a:p>
          <a:p>
            <a:pPr>
              <a:spcAft>
                <a:spcPts val="1200"/>
              </a:spcAft>
            </a:pPr>
            <a:r>
              <a:t>Evolved from legacy scripts to a robust, modular crawler.</a:t>
            </a:r>
          </a:p>
          <a:p>
            <a:pPr>
              <a:spcAft>
                <a:spcPts val="1200"/>
              </a:spcAft>
            </a:pPr>
            <a:r>
              <a:t>Empowers teams to focus on strategy rather than data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• Phase 1: Reconnaissance (Analyzing DOM structure of VLR.gg)</a:t>
            </a:r>
            <a:endParaRPr/>
          </a:p>
          <a:p>
            <a:pPr/>
            <a:r>
              <a:rPr sz="2000">
                <a:latin typeface="Calibri"/>
              </a:rPr>
              <a:t>• Phase 2: Design Data Architecture (Hierarchical JSON)</a:t>
            </a:r>
          </a:p>
          <a:p>
            <a:pPr/>
            <a:r>
              <a:rPr sz="2000">
                <a:latin typeface="Calibri"/>
              </a:rPr>
              <a:t>• Phase 3: Web Scraper Implementation (Python, BeautifulSoup4, Requests)</a:t>
            </a:r>
          </a:p>
          <a:p>
            <a:pPr/>
            <a:r>
              <a:rPr sz="2000">
                <a:latin typeface="Calibri"/>
              </a:rPr>
              <a:t>• Phase 4: Data Processing Module (Aggregating ACS, KD, Win Rates)</a:t>
            </a:r>
          </a:p>
          <a:p>
            <a:pPr/>
            <a:r>
              <a:rPr sz="2000">
                <a:latin typeface="Calibri"/>
              </a:rPr>
              <a:t>• Phase 5: Result Generation (Identifying Meta Comps)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4. </a:t>
            </a:r>
            <a:r>
              <a:rPr sz="4000" dirty="0"/>
              <a:t>Existing</a:t>
            </a:r>
            <a:r>
              <a:rPr sz="3600" dirty="0"/>
              <a:t> Systems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VLR.gg: Primary source, no API, consumption-only.</a:t>
            </a:r>
          </a:p>
          <a:p>
            <a:pPr>
              <a:spcAft>
                <a:spcPts val="1200"/>
              </a:spcAft>
            </a:pPr>
            <a:r>
              <a:t>Tracker.gg: Focuses on ranked play, not pro tournaments.</a:t>
            </a:r>
          </a:p>
          <a:p>
            <a:pPr>
              <a:spcAft>
                <a:spcPts val="1200"/>
              </a:spcAft>
            </a:pPr>
            <a:r>
              <a:t>Rib.gg: Paid, pre-defined dashboards.</a:t>
            </a:r>
          </a:p>
          <a:p>
            <a:pPr>
              <a:spcAft>
                <a:spcPts val="1200"/>
              </a:spcAft>
            </a:pPr>
            <a:r>
              <a:t>Manual Spreadsheets: High effort, hard to maintain.</a:t>
            </a:r>
          </a:p>
          <a:p>
            <a:pPr>
              <a:spcAft>
                <a:spcPts val="1200"/>
              </a:spcAft>
            </a:pPr>
            <a:r>
              <a:t>ScoutAnt: Custom query flexibility + Professional data depth.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1600">
                <a:latin typeface="Calibri"/>
              </a:rPr>
              <a:t>Hardware Requirements:</a:t>
            </a:r>
            <a:endParaRPr/>
          </a:p>
          <a:p>
            <a:pPr/>
            <a:r>
              <a:rPr sz="1600">
                <a:latin typeface="Calibri"/>
              </a:rPr>
              <a:t>  • Processor: Multi-core CPU (Intel i3/Ryzen 3) or higher</a:t>
            </a:r>
          </a:p>
          <a:p>
            <a:pPr/>
            <a:r>
              <a:rPr sz="1600">
                <a:latin typeface="Calibri"/>
              </a:rPr>
              <a:t>  • RAM: Minimum 4 GB, Recommended 8 GB</a:t>
            </a:r>
          </a:p>
          <a:p>
            <a:pPr/>
            <a:r>
              <a:rPr sz="1600">
                <a:latin typeface="Calibri"/>
              </a:rPr>
              <a:t>  • Storage: At least 250 MB free space for JSON storage</a:t>
            </a:r>
          </a:p>
          <a:p>
            <a:pPr/>
            <a:r>
              <a:rPr sz="1600">
                <a:latin typeface="Calibri"/>
              </a:rPr>
              <a:t>  • Network: Stable Internet connection for scraping</a:t>
            </a:r>
          </a:p>
          <a:p>
            <a:pPr/>
            <a:r>
              <a:rPr sz="1600">
                <a:latin typeface="Calibri"/>
              </a:rPr>
              <a:t>Software Requirements:</a:t>
            </a:r>
          </a:p>
          <a:p>
            <a:pPr/>
            <a:r>
              <a:rPr sz="1600">
                <a:latin typeface="Calibri"/>
              </a:rPr>
              <a:t>  • OS: Windows, macOS, or Linux</a:t>
            </a:r>
          </a:p>
          <a:p>
            <a:pPr/>
            <a:r>
              <a:rPr sz="1600">
                <a:latin typeface="Calibri"/>
              </a:rPr>
              <a:t>  • Language: Python 3.8+</a:t>
            </a:r>
          </a:p>
          <a:p>
            <a:pPr/>
            <a:r>
              <a:rPr sz="1600">
                <a:latin typeface="Calibri"/>
              </a:rPr>
              <a:t>  • Libraries: BeautifulSoup4, Requests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5. Proposed Methodology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Step 1: Reconnaissance - Analyzed VLR.gg URL structure.</a:t>
            </a:r>
          </a:p>
          <a:p>
            <a:pPr>
              <a:spcAft>
                <a:spcPts val="1200"/>
              </a:spcAft>
            </a:pPr>
            <a:r>
              <a:t>Step 2: DOM Analysis - Identified HTML tables and classes.</a:t>
            </a:r>
          </a:p>
          <a:p>
            <a:pPr>
              <a:spcAft>
                <a:spcPts val="1200"/>
              </a:spcAft>
            </a:pPr>
            <a:r>
              <a:t>Step 3: Crawler Architecture - 3-layer loop (Events -&gt; Matches -&gt; Stats).</a:t>
            </a:r>
          </a:p>
          <a:p>
            <a:pPr>
              <a:spcAft>
                <a:spcPts val="1200"/>
              </a:spcAft>
            </a:pPr>
            <a:r>
              <a:t>Step 4: Data Storage - JSON document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2000">
                <a:latin typeface="Calibri"/>
              </a:rPr>
              <a:t>• Automated data collection significantly reduces prep time from hours to minutes.</a:t>
            </a:r>
            <a:endParaRPr/>
          </a:p>
          <a:p>
            <a:pPr/>
            <a:r>
              <a:rPr sz="2000">
                <a:latin typeface="Calibri"/>
              </a:rPr>
              <a:t>• Robust extraction with &gt;99% success rate across standard match pages.</a:t>
            </a:r>
          </a:p>
          <a:p>
            <a:pPr/>
            <a:r>
              <a:rPr sz="2000">
                <a:latin typeface="Calibri"/>
              </a:rPr>
              <a:t>• Data successfully structured in 'match_stats_db.json' allowing complex queries.</a:t>
            </a:r>
          </a:p>
          <a:p>
            <a:pPr/>
            <a:r>
              <a:rPr sz="2000">
                <a:latin typeface="Calibri"/>
              </a:rPr>
              <a:t>• Achieved 100% accuracy in extracted player stats validated manually.</a:t>
            </a:r>
          </a:p>
          <a:p>
            <a:pPr/>
            <a:r>
              <a:rPr sz="2000">
                <a:latin typeface="Calibri"/>
              </a:rPr>
              <a:t>• Predictions show strong correlation with actual tournament outcomes.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6.1 Functional Requirements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Event Navigation: Iterate through history pages.</a:t>
            </a:r>
          </a:p>
          <a:p>
            <a:pPr>
              <a:spcAft>
                <a:spcPts val="1200"/>
              </a:spcAft>
            </a:pPr>
            <a:r>
              <a:t>Match Extraction: Identify valid match links.</a:t>
            </a:r>
          </a:p>
          <a:p>
            <a:pPr>
              <a:spcAft>
                <a:spcPts val="1200"/>
              </a:spcAft>
            </a:pPr>
            <a:r>
              <a:t>Data Scraping: Extract Map, Teams, Players, Stats.</a:t>
            </a:r>
          </a:p>
          <a:p>
            <a:pPr>
              <a:spcAft>
                <a:spcPts val="1200"/>
              </a:spcAft>
            </a:pPr>
            <a:r>
              <a:t>Data Persistence: Save to match_stats_db.json.</a:t>
            </a:r>
          </a:p>
          <a:p>
            <a:pPr>
              <a:spcAft>
                <a:spcPts val="1200"/>
              </a:spcAft>
            </a:pPr>
            <a:r>
              <a:t>Checkpointing &amp; Duplicate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1600">
                <a:latin typeface="Calibri"/>
              </a:rPr>
              <a:t>Conclusion:</a:t>
            </a:r>
            <a:endParaRPr/>
          </a:p>
          <a:p>
            <a:pPr/>
            <a:r>
              <a:rPr sz="1600">
                <a:latin typeface="Calibri"/>
              </a:rPr>
              <a:t>  • Democratizes access to high-level esports data through automation.</a:t>
            </a:r>
          </a:p>
          <a:p>
            <a:pPr/>
            <a:r>
              <a:rPr sz="1600">
                <a:latin typeface="Calibri"/>
              </a:rPr>
              <a:t>  • Establishes a scalable foundation for Valorant analytics.</a:t>
            </a:r>
          </a:p>
          <a:p>
            <a:pPr/>
            <a:r>
              <a:rPr sz="1600">
                <a:latin typeface="Calibri"/>
              </a:rPr>
              <a:t>Future Work:</a:t>
            </a:r>
          </a:p>
          <a:p>
            <a:pPr/>
            <a:r>
              <a:rPr sz="1600">
                <a:latin typeface="Calibri"/>
              </a:rPr>
              <a:t>  • Machine Learning integration for win probability prediction.</a:t>
            </a:r>
          </a:p>
          <a:p>
            <a:pPr/>
            <a:r>
              <a:rPr sz="1600">
                <a:latin typeface="Calibri"/>
              </a:rPr>
              <a:t>  • Development of a graphical web dashboard or desktop GUI.</a:t>
            </a:r>
          </a:p>
          <a:p>
            <a:pPr/>
            <a:r>
              <a:rPr sz="1600">
                <a:latin typeface="Calibri"/>
              </a:rPr>
              <a:t>  • Transition from JSON file storage to a robust relational database.</a:t>
            </a:r>
          </a:p>
          <a:p>
            <a:pPr/>
            <a:r>
              <a:rPr sz="1600">
                <a:latin typeface="Calibri"/>
              </a:rPr>
              <a:t>  • Real-time match tracking capabilities.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586568" y="581677"/>
            <a:ext cx="6450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6.2 Non-Functional Requirements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Performance: Efficient requests with rate-limiting delays.</a:t>
            </a:r>
          </a:p>
          <a:p>
            <a:pPr>
              <a:spcAft>
                <a:spcPts val="1200"/>
              </a:spcAft>
            </a:pPr>
            <a:r>
              <a:t>Robustness: Handle 404s and Timeouts gracefully.</a:t>
            </a:r>
          </a:p>
          <a:p>
            <a:pPr>
              <a:spcAft>
                <a:spcPts val="1200"/>
              </a:spcAft>
            </a:pPr>
            <a:r>
              <a:t>Scalability for new stats.</a:t>
            </a:r>
          </a:p>
          <a:p>
            <a:pPr>
              <a:spcAft>
                <a:spcPts val="1200"/>
              </a:spcAft>
            </a:pPr>
            <a:r>
              <a:t>Data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r>
              <a:rPr sz="1600">
                <a:latin typeface="Calibri"/>
              </a:rPr>
              <a:t>• Python Software Foundation. Python Language Reference. Available at http://www.python.org</a:t>
            </a:r>
            <a:endParaRPr/>
          </a:p>
          <a:p>
            <a:pPr/>
            <a:r>
              <a:rPr sz="1600">
                <a:latin typeface="Calibri"/>
              </a:rPr>
              <a:t>• Richardson, L. Beautiful Soup Documentation. Retrieved from crummy.com</a:t>
            </a:r>
          </a:p>
          <a:p>
            <a:pPr/>
            <a:r>
              <a:rPr sz="1600">
                <a:latin typeface="Calibri"/>
              </a:rPr>
              <a:t>• VLR.gg. Valorant Competitive Match Statistics. Retrieved from https://www.vlr.gg/</a:t>
            </a:r>
          </a:p>
          <a:p>
            <a:pPr/>
            <a:r>
              <a:rPr sz="1600">
                <a:latin typeface="Calibri"/>
              </a:rPr>
              <a:t>• Reitz, K. Requests: HTTP for Humans. Retrieved from requests.readthedocs.io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 dirty="0"/>
              <a:t>7. Description of Modules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Event Scraper (Production):</a:t>
            </a:r>
          </a:p>
          <a:p>
            <a:pPr>
              <a:spcAft>
                <a:spcPts val="1200"/>
              </a:spcAft>
            </a:pPr>
            <a:r>
              <a:t> - Stats_from_events_page.py: Main orchestrator.</a:t>
            </a:r>
          </a:p>
          <a:p>
            <a:pPr>
              <a:spcAft>
                <a:spcPts val="1200"/>
              </a:spcAft>
            </a:pPr>
            <a:r>
              <a:t> - Key Functions: get_completed_events, scrape_match_detailed.</a:t>
            </a:r>
          </a:p>
          <a:p>
            <a:pPr>
              <a:spcAft>
                <a:spcPts val="1200"/>
              </a:spcAft>
            </a:pPr>
            <a:r>
              <a:t>Legacy Tools (Research):</a:t>
            </a:r>
          </a:p>
          <a:p>
            <a:pPr>
              <a:spcAft>
                <a:spcPts val="1200"/>
              </a:spcAft>
            </a:pPr>
            <a:r>
              <a:t> - scraper.py: Prototype for outcomes.</a:t>
            </a:r>
          </a:p>
          <a:p>
            <a:pPr>
              <a:spcAft>
                <a:spcPts val="1200"/>
              </a:spcAft>
            </a:pPr>
            <a:r>
              <a:t> - event_explorer.py: Navigational probe.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8D52D0F-9B2E-A62D-C6A3-2D63DC8E061C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FF7591-E96F-84A2-BC77-7FD4C3A76096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673E1C5-4B88-2FCB-D835-61966ADDE253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A7523C5-2D7E-7C98-E1F4-8E070901D9E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397A0E5-2B80-8A47-FC4A-FBD5742DE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C3BB91-B935-7CCE-DD04-710F6B1B1DFC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29A65E0-B5B1-5D9C-F917-4224493AC76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D3ECDF3-3B70-2BAA-D240-FB02381FE8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9325D3C-0427-2078-DD6D-C1B5CA24DF1B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FA9204A-697F-E2DF-8C0F-D7E1B93C5D78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85E080DF-1DBF-E77E-3EA5-80BCE26A8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B74FCDE-C707-859D-FAF0-63324EF0058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62C9FC-F8D9-342F-FEAD-DAB76EF12AD7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E5A73-C66F-84BE-CAE8-B3F07748D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B5699E-6844-5994-7239-2EF361F91AFC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EEF0C-0286-E04A-8763-CA3FD4EDA790}"/>
              </a:ext>
            </a:extLst>
          </p:cNvPr>
          <p:cNvSpPr txBox="1"/>
          <p:nvPr/>
        </p:nvSpPr>
        <p:spPr>
          <a:xfrm>
            <a:off x="11658600" y="573259"/>
            <a:ext cx="5985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sz="3600"/>
              <a:t>8. Result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4DC7A3-DB19-7417-6BEF-39BB91DFBA74}"/>
              </a:ext>
            </a:extLst>
          </p:cNvPr>
          <p:cNvSpPr txBox="1">
            <a:spLocks/>
          </p:cNvSpPr>
          <p:nvPr/>
        </p:nvSpPr>
        <p:spPr>
          <a:xfrm>
            <a:off x="4572000" y="2456195"/>
            <a:ext cx="9601200" cy="419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spcAft>
                <a:spcPts val="1200"/>
              </a:spcAft>
            </a:pPr>
            <a:r>
              <a:t>Output: match_stats_db.json (Source of Truth).</a:t>
            </a:r>
          </a:p>
          <a:p>
            <a:pPr>
              <a:spcAft>
                <a:spcPts val="1200"/>
              </a:spcAft>
            </a:pPr>
            <a:r>
              <a:t>Structure: Nested JSON (Match -&gt; Map -&gt; Players).</a:t>
            </a:r>
          </a:p>
          <a:p>
            <a:pPr>
              <a:spcAft>
                <a:spcPts val="1200"/>
              </a:spcAft>
            </a:pPr>
            <a:r>
              <a:t>Success Rate: &gt;99% of standard pages.</a:t>
            </a:r>
          </a:p>
          <a:p>
            <a:pPr>
              <a:spcAft>
                <a:spcPts val="1200"/>
              </a:spcAft>
            </a:pPr>
            <a:r>
              <a:t>Speed: ~60 matches/minute.</a:t>
            </a:r>
          </a:p>
          <a:p>
            <a:pPr>
              <a:spcAft>
                <a:spcPts val="1200"/>
              </a:spcAft>
            </a:pPr>
            <a:r>
              <a:t>Accuracy: Verified 100% against VLR.gg.</a:t>
            </a:r>
          </a:p>
        </p:txBody>
      </p:sp>
      <p:pic>
        <p:nvPicPr>
          <p:cNvPr id="21" name="Picture 20" descr="cmd_scree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11680"/>
            <a:ext cx="4114800" cy="1028700"/>
          </a:xfrm>
          <a:prstGeom prst="rect">
            <a:avLst/>
          </a:prstGeom>
        </p:spPr>
      </p:pic>
      <p:pic>
        <p:nvPicPr>
          <p:cNvPr id="22" name="Picture 21" descr="json_screensh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011680"/>
            <a:ext cx="4114800" cy="35472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C5CE213-426A-82DF-D311-88A7DBF20316}"/>
              </a:ext>
            </a:extLst>
          </p:cNvPr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0CD9478-3A22-480C-A6BF-23DC112CEA13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C721935-FA0D-DA82-90EE-A6CD9F29B45E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3A28BD87-00A2-2E11-2F95-A879D6A658A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FFCC9BA3-DEB1-3F1A-621A-F194E57EC7D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0CA31EB-4421-E038-D0F8-EC799BBBDA92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8C399B0-20AE-B43D-BB9A-94B65345D506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6A8D4CB-784C-0E68-E845-337F913928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DBDC6BC-885E-07C7-9452-7B4A1A94E5A2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7E30C65-E8E6-DC7B-B9C7-B61B07CC5570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2FA3DC5-3703-BD50-8E0E-445323D39F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79520DB-E913-EE6C-2755-A5B614D281D5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EC004F-4544-4F7C-00A5-0FC981E42B4B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53DB9A-B938-70F2-E5C3-134C0F17C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930616-BE18-458F-6FE9-B8A8B7BB1232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Content Placeholder 2"/>
          <p:cNvSpPr txBox="1">
            <a:spLocks/>
          </p:cNvSpPr>
          <p:nvPr/>
        </p:nvSpPr>
        <p:spPr>
          <a:xfrm>
            <a:off x="4200638" y="4000500"/>
            <a:ext cx="12487161" cy="343708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r>
              <a:rPr lang="en-GB" sz="13200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sz="1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